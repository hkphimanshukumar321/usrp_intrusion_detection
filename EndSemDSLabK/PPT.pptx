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6A7BAE-9D7D-126A-D585-341A3040CCAE}" v="1206" dt="2025-04-23T22:03:04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33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6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2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2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774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47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1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71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8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2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81240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ea typeface="+mj-lt"/>
                <a:cs typeface="+mj-lt"/>
              </a:rPr>
              <a:t>Multi-Receiver Real-time Physical Intrusion Detection “Burglar Alarm” with GNU Radio and USRP N310 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2770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PRESENTED BY - </a:t>
            </a:r>
          </a:p>
          <a:p>
            <a:r>
              <a:rPr lang="en-US" dirty="0"/>
              <a:t>HIMANSHU KUMAR  - 24SP06015</a:t>
            </a:r>
          </a:p>
          <a:p>
            <a:r>
              <a:rPr lang="en-US" dirty="0"/>
              <a:t>SHUBHAM GUPTA - 24SP06001</a:t>
            </a:r>
          </a:p>
        </p:txBody>
      </p:sp>
      <p:pic>
        <p:nvPicPr>
          <p:cNvPr id="4" name="Picture 3" descr="A logo with a feather in the middle&#10;&#10;AI-generated content may be incorrect.">
            <a:extLst>
              <a:ext uri="{FF2B5EF4-FFF2-40B4-BE49-F238E27FC236}">
                <a16:creationId xmlns:a16="http://schemas.microsoft.com/office/drawing/2014/main" id="{914C251D-34C8-0010-0182-B95D358F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091" y="2766164"/>
            <a:ext cx="2083821" cy="193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B288-EC0C-3B0B-B2F9-9D904186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SYSTEM OVERVIEW: BURGLAR ALARM USING USRP B210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2D7A6-2D5D-9F23-BAEB-B47BB7EDB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burglar alarm works by: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Transmitting a known signal pattern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Receiving the reflected signal</a:t>
            </a:r>
            <a:r>
              <a:rPr lang="en-US" dirty="0">
                <a:ea typeface="+mn-lt"/>
                <a:cs typeface="+mn-lt"/>
              </a:rPr>
              <a:t> (due to movement/obstacle change).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Detecting anomalies</a:t>
            </a:r>
            <a:r>
              <a:rPr lang="en-US" dirty="0">
                <a:ea typeface="+mn-lt"/>
                <a:cs typeface="+mn-lt"/>
              </a:rPr>
              <a:t> (using peak detector &amp; thresholding).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Triggering an alarm</a:t>
            </a:r>
            <a:r>
              <a:rPr lang="en-US" dirty="0">
                <a:ea typeface="+mn-lt"/>
                <a:cs typeface="+mn-lt"/>
              </a:rPr>
              <a:t> (via audio tone or digital trigger).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2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85A9-D45C-D4E9-8074-D9F0FE1EA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LOGIC BEHIND BURGLAR DETECTION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DAE51-4C41-F008-003F-1C3A8D9BE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No Movement</a:t>
            </a:r>
            <a:r>
              <a:rPr lang="en-US" dirty="0">
                <a:ea typeface="+mn-lt"/>
                <a:cs typeface="+mn-lt"/>
              </a:rPr>
              <a:t> → Signal reflects back identically → No large peaks.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Intrusion/Movement</a:t>
            </a:r>
            <a:r>
              <a:rPr lang="en-US" dirty="0">
                <a:ea typeface="+mn-lt"/>
                <a:cs typeface="+mn-lt"/>
              </a:rPr>
              <a:t> → Signal gets disrupted → Peak detector triggers.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Thresholding + Binary Slicing</a:t>
            </a:r>
            <a:r>
              <a:rPr lang="en-US" dirty="0">
                <a:ea typeface="+mn-lt"/>
                <a:cs typeface="+mn-lt"/>
              </a:rPr>
              <a:t> → Clean 0/1 logic → Sends </a:t>
            </a:r>
            <a:r>
              <a:rPr lang="en-US" dirty="0">
                <a:latin typeface="Consolas"/>
              </a:rPr>
              <a:t>1</a:t>
            </a:r>
            <a:r>
              <a:rPr lang="en-US" dirty="0">
                <a:ea typeface="+mn-lt"/>
                <a:cs typeface="+mn-lt"/>
              </a:rPr>
              <a:t> to multiplier.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Tone × 1 → Audible alarm</a:t>
            </a:r>
            <a:r>
              <a:rPr lang="en-US" dirty="0">
                <a:ea typeface="+mn-lt"/>
                <a:cs typeface="+mn-lt"/>
              </a:rPr>
              <a:t> only when intrusion is detected.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4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CF4F-095E-E865-2567-886537A4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TRANSMITTER SIDE (Signal Emission)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20A9F2C-AAF6-6182-AA75-9BD105A17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7522877"/>
              </p:ext>
            </p:extLst>
          </p:nvPr>
        </p:nvGraphicFramePr>
        <p:xfrm>
          <a:off x="702422" y="1435941"/>
          <a:ext cx="10653710" cy="5425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0742">
                  <a:extLst>
                    <a:ext uri="{9D8B030D-6E8A-4147-A177-3AD203B41FA5}">
                      <a16:colId xmlns:a16="http://schemas.microsoft.com/office/drawing/2014/main" val="1095397511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4189085575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1747756326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3392359655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341769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Block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What It Does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Why It's Needed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How It Helps in Burglar Alarm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dirty="0"/>
                        <a:t>Input Parameters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465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Signal Source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Generates a baseband tone (1 kHz cosine)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Acts as the known signature signal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Repeated waveform is easy to detect when reflected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Neue Haas Grotesk Text Pro"/>
                        </a:rPr>
                        <a:t>Sample Rate: 1.92M — Frequency: 1kHz — Amplitude: 100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97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Constellation Modulator (QPSK)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Modulates signal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 realistic wireless transmission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Adds noise-resilience and better spectrum usage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Neue Haas Grotesk Text Pro"/>
                        </a:rPr>
                        <a:t>Constellation: QPSK — Diff Encoding: No — Samples/Symbol: 10 — Excess BW: 350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386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Interpolating FIR Filter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/>
                        <a:t>Upsamples</a:t>
                      </a:r>
                      <a:r>
                        <a:rPr lang="en-US" sz="1600" dirty="0"/>
                        <a:t> signal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Needed for SDR transmission (higher rate)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Aligns symbol rate with USRP hardware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Neue Haas Grotesk Text Pro"/>
                        </a:rPr>
                        <a:t>Interpolation: 8 — Taps: 32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36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QT GUI Time Sink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Visual monitor of TX waveform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 debugging and visualization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Confirms signal generation is correct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Neue Haas Grotesk Text Pro"/>
                        </a:rPr>
                        <a:t>Points: 1024 — Sample Rate: 1.92M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755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UHD: USRP Sink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Sends signal via B210 over the air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Interface to RF hardware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Transmits QPSK signal to environment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latin typeface="Neue Haas Grotesk Text Pro"/>
                        </a:rPr>
                        <a:t>Device: USRP B210 — Center Freq: 2.4 GHz — Sample Rate: 1.92M</a:t>
                      </a:r>
                      <a:endParaRPr lang="en-US" sz="16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19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18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E07BAE38-EE94-4EA4-A98E-26A5C239E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2" y="2318847"/>
            <a:ext cx="12283389" cy="28702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134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0C0F2-EAF4-B481-6A94-7D5D7EB7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188936"/>
            <a:ext cx="9444037" cy="954194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u="sng" dirty="0">
                <a:ea typeface="+mj-lt"/>
                <a:cs typeface="+mj-lt"/>
              </a:rPr>
              <a:t>RECEIVER SIDE (Detection )</a:t>
            </a:r>
            <a:endParaRPr lang="en-US" sz="3200" b="1" u="sng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8CE579-12A2-BC87-807B-79E26DDFC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8198365"/>
              </p:ext>
            </p:extLst>
          </p:nvPr>
        </p:nvGraphicFramePr>
        <p:xfrm>
          <a:off x="344465" y="887260"/>
          <a:ext cx="11519883" cy="607156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15804">
                  <a:extLst>
                    <a:ext uri="{9D8B030D-6E8A-4147-A177-3AD203B41FA5}">
                      <a16:colId xmlns:a16="http://schemas.microsoft.com/office/drawing/2014/main" val="3327756487"/>
                    </a:ext>
                  </a:extLst>
                </a:gridCol>
                <a:gridCol w="2065500">
                  <a:extLst>
                    <a:ext uri="{9D8B030D-6E8A-4147-A177-3AD203B41FA5}">
                      <a16:colId xmlns:a16="http://schemas.microsoft.com/office/drawing/2014/main" val="3395170742"/>
                    </a:ext>
                  </a:extLst>
                </a:gridCol>
                <a:gridCol w="1938331">
                  <a:extLst>
                    <a:ext uri="{9D8B030D-6E8A-4147-A177-3AD203B41FA5}">
                      <a16:colId xmlns:a16="http://schemas.microsoft.com/office/drawing/2014/main" val="603593178"/>
                    </a:ext>
                  </a:extLst>
                </a:gridCol>
                <a:gridCol w="2900124">
                  <a:extLst>
                    <a:ext uri="{9D8B030D-6E8A-4147-A177-3AD203B41FA5}">
                      <a16:colId xmlns:a16="http://schemas.microsoft.com/office/drawing/2014/main" val="3873523634"/>
                    </a:ext>
                  </a:extLst>
                </a:gridCol>
                <a:gridCol w="2900124">
                  <a:extLst>
                    <a:ext uri="{9D8B030D-6E8A-4147-A177-3AD203B41FA5}">
                      <a16:colId xmlns:a16="http://schemas.microsoft.com/office/drawing/2014/main" val="1616958575"/>
                    </a:ext>
                  </a:extLst>
                </a:gridCol>
              </a:tblGrid>
              <a:tr h="406213">
                <a:tc>
                  <a:txBody>
                    <a:bodyPr/>
                    <a:lstStyle/>
                    <a:p>
                      <a:r>
                        <a:rPr lang="en-US" sz="1500" b="1" dirty="0"/>
                        <a:t>Block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What It Does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Why It's Needed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How It Helps in Burglar Alarm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1" dirty="0"/>
                        <a:t>Input Parameters</a:t>
                      </a:r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670999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UHD: USRP Source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Captures environment signal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Interface to B210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Receives back reflected signal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Center Freq: 2.4 GHz — Sample Rate: 1.92M — Gain: 50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175802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AGC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Automatic Gain Control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Handles variable amplitude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Adapts to distance/movement intensity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Rate: 100u — Max Gain: 65536 — Ref: 1 — Gain: 10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244385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QT GUI Time Sink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See received signal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For debugging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Checks if environment is reflecting signal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Points: 1024 — Sample Rate: 1.92M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322105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File Sink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Store received signal to K.dat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For offline analysis (optional)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Helps with post-event analysis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Path: K.dat — Unbuffered: False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30959"/>
                  </a:ext>
                </a:extLst>
              </a:tr>
              <a:tr h="470760">
                <a:tc>
                  <a:txBody>
                    <a:bodyPr/>
                    <a:lstStyle/>
                    <a:p>
                      <a:r>
                        <a:rPr lang="en-US" sz="1500" dirty="0"/>
                        <a:t>Multiply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Mixes received with internal LO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Frequency translation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Helps </a:t>
                      </a:r>
                      <a:r>
                        <a:rPr lang="en-US" sz="1500" err="1"/>
                        <a:t>downconvert</a:t>
                      </a:r>
                      <a:r>
                        <a:rPr lang="en-US" sz="1500" dirty="0"/>
                        <a:t> for baseband processing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Inputs: RX × Local Oscillator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754161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Decimating FIR Filter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err="1"/>
                        <a:t>Downsamples</a:t>
                      </a:r>
                      <a:endParaRPr lang="en-US" sz="1500"/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Match processing rate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Reduces processing load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Decimation: 16 — Taps: 64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822872"/>
                  </a:ext>
                </a:extLst>
              </a:tr>
              <a:tr h="470760">
                <a:tc>
                  <a:txBody>
                    <a:bodyPr/>
                    <a:lstStyle/>
                    <a:p>
                      <a:r>
                        <a:rPr lang="en-US" sz="1500" dirty="0"/>
                        <a:t>Root Raised Cosine Filter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Matched filtering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Reduce ISI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Clean up modulated signal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Gain: 1 — Symbol Rate: 1 — Alpha: 0.35 — Taps: 21.12M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81685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Symbol Sync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Extract symbols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Symbol timing recovery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Converts stream into meaningful bits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TED: Mueller &amp; Muller — </a:t>
                      </a:r>
                      <a:r>
                        <a:rPr lang="en-US" sz="1500" b="0" i="0" u="none" strike="noStrike" noProof="0" err="1">
                          <a:latin typeface="Neue Haas Grotesk Text Pro"/>
                        </a:rPr>
                        <a:t>Sps</a:t>
                      </a: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: 10 — Damping: 1 — Output </a:t>
                      </a:r>
                      <a:r>
                        <a:rPr lang="en-US" sz="1500" b="0" i="0" u="none" strike="noStrike" noProof="0" err="1">
                          <a:latin typeface="Neue Haas Grotesk Text Pro"/>
                        </a:rPr>
                        <a:t>Sps</a:t>
                      </a: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: 1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370165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Costas Loop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Carrier synchronization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QPSK demodulation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Removes phase offset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Loop BW: 0.05 — Order: 2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723974"/>
                  </a:ext>
                </a:extLst>
              </a:tr>
              <a:tr h="279911">
                <a:tc>
                  <a:txBody>
                    <a:bodyPr/>
                    <a:lstStyle/>
                    <a:p>
                      <a:r>
                        <a:rPr lang="en-US" sz="1500" dirty="0"/>
                        <a:t>Constellation Decoder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Symbol-to-bit conversion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Final </a:t>
                      </a:r>
                      <a:r>
                        <a:rPr lang="en-US" sz="1500" err="1"/>
                        <a:t>demapping</a:t>
                      </a:r>
                      <a:endParaRPr lang="en-US" sz="1500"/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Gives bitstream to analyze activity</a:t>
                      </a:r>
                    </a:p>
                  </a:txBody>
                  <a:tcPr marL="63616" marR="63616" marT="31808" marB="31808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500" b="0" i="0" u="none" strike="noStrike" noProof="0" dirty="0">
                          <a:latin typeface="Neue Haas Grotesk Text Pro"/>
                        </a:rPr>
                        <a:t>Constellation: QPSK</a:t>
                      </a:r>
                      <a:endParaRPr lang="en-US" sz="1500" dirty="0"/>
                    </a:p>
                  </a:txBody>
                  <a:tcPr marL="63615" marR="63615" marT="31807" marB="31807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096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158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36361961-6B5E-B83F-3EB8-F46D70BE8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2" y="1199235"/>
            <a:ext cx="12014449" cy="49189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620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53C2-8C5E-AE43-6021-AD5E718E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50" y="168060"/>
            <a:ext cx="9444037" cy="954194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u="sng" dirty="0"/>
              <a:t>RECIEVER SIDE (ALARM)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4AF780-DEEE-5A73-4A18-26C274EDE7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166823"/>
              </p:ext>
            </p:extLst>
          </p:nvPr>
        </p:nvGraphicFramePr>
        <p:xfrm>
          <a:off x="407096" y="803753"/>
          <a:ext cx="11558958" cy="60849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73678">
                  <a:extLst>
                    <a:ext uri="{9D8B030D-6E8A-4147-A177-3AD203B41FA5}">
                      <a16:colId xmlns:a16="http://schemas.microsoft.com/office/drawing/2014/main" val="1388841935"/>
                    </a:ext>
                  </a:extLst>
                </a:gridCol>
                <a:gridCol w="1964816">
                  <a:extLst>
                    <a:ext uri="{9D8B030D-6E8A-4147-A177-3AD203B41FA5}">
                      <a16:colId xmlns:a16="http://schemas.microsoft.com/office/drawing/2014/main" val="281983224"/>
                    </a:ext>
                  </a:extLst>
                </a:gridCol>
                <a:gridCol w="1987938">
                  <a:extLst>
                    <a:ext uri="{9D8B030D-6E8A-4147-A177-3AD203B41FA5}">
                      <a16:colId xmlns:a16="http://schemas.microsoft.com/office/drawing/2014/main" val="134155559"/>
                    </a:ext>
                  </a:extLst>
                </a:gridCol>
                <a:gridCol w="2766263">
                  <a:extLst>
                    <a:ext uri="{9D8B030D-6E8A-4147-A177-3AD203B41FA5}">
                      <a16:colId xmlns:a16="http://schemas.microsoft.com/office/drawing/2014/main" val="1282857986"/>
                    </a:ext>
                  </a:extLst>
                </a:gridCol>
                <a:gridCol w="2766263">
                  <a:extLst>
                    <a:ext uri="{9D8B030D-6E8A-4147-A177-3AD203B41FA5}">
                      <a16:colId xmlns:a16="http://schemas.microsoft.com/office/drawing/2014/main" val="2209181948"/>
                    </a:ext>
                  </a:extLst>
                </a:gridCol>
              </a:tblGrid>
              <a:tr h="546286">
                <a:tc>
                  <a:txBody>
                    <a:bodyPr/>
                    <a:lstStyle/>
                    <a:p>
                      <a:r>
                        <a:rPr lang="en-US" sz="1400" b="1" dirty="0"/>
                        <a:t>Block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What It Does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Why It's Needed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How It Helps in Burglar Alarm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/>
                        <a:t>Input Parameters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47327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Null Sink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Discards bitstream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further bit decoding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Just confirming reception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Data Type: char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718211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Complex to Float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Splits I/Q for peak detection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Required for further analysis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Analyze amplitude envelope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Input: AGC output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01713"/>
                  </a:ext>
                </a:extLst>
              </a:tr>
              <a:tr h="756112">
                <a:tc>
                  <a:txBody>
                    <a:bodyPr/>
                    <a:lstStyle/>
                    <a:p>
                      <a:r>
                        <a:rPr lang="en-US" sz="1400" dirty="0"/>
                        <a:t>Peak Detector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energy spikes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Detect motion/intrusion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Triggers when reflection pattern changes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TH Rise: 100 — TH Fall: 200 — Alpha: 1m — Look Ahead: 10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619119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Threshold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Binarizes peak output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Intrusion logic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Movement = peak above threshold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Low: -200 — High: 200 — Initial: 0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411755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Binary Slicer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Converts analog to binary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clean detection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Eliminates small noise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Input: </a:t>
                      </a:r>
                      <a:r>
                        <a:rPr lang="en-US" sz="1400" b="0" i="0" u="none" strike="noStrike" noProof="0" err="1">
                          <a:latin typeface="Neue Haas Grotesk Text Pro"/>
                        </a:rPr>
                        <a:t>Thresholded</a:t>
                      </a: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 float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36676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UChar to Float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Converts bits to float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 audio or further logic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Needed for scaling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Input: Binary bitstream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435808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Signal Source (Cosine)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Tone generator for alert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Alarm sound tone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Acts as alarm bell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Sample Rate: 1.92M — Frequency: 1kHz — Amplitude: 100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58950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Multiply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 tone with motion bit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Audio trigger logic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Plays tone only on intrusion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Input: Tone × Binary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382172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1400" dirty="0"/>
                        <a:t>Audio Sink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Plays sound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output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Audible alarm to user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Sample Rate: 1.92M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663017"/>
                  </a:ext>
                </a:extLst>
              </a:tr>
              <a:tr h="671634">
                <a:tc>
                  <a:txBody>
                    <a:bodyPr/>
                    <a:lstStyle/>
                    <a:p>
                      <a:r>
                        <a:rPr lang="en-US" sz="1400" dirty="0"/>
                        <a:t>QT GUI Time Sink (Processed)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view of Costas output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Debugging</a:t>
                      </a:r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Helps analyze locked carrier</a:t>
                      </a:r>
                    </a:p>
                  </a:txBody>
                  <a:tcPr marL="64758" marR="64758" marT="32379" marB="32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Neue Haas Grotesk Text Pro"/>
                        </a:rPr>
                        <a:t>Points: 1024 — Sample Rate: 1.92M</a:t>
                      </a:r>
                      <a:endParaRPr lang="en-US" sz="1400" dirty="0"/>
                    </a:p>
                  </a:txBody>
                  <a:tcPr marL="64758" marR="64758" marT="32379" marB="32379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89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52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omputer&#10;&#10;AI-generated content may be incorrect.">
            <a:extLst>
              <a:ext uri="{FF2B5EF4-FFF2-40B4-BE49-F238E27FC236}">
                <a16:creationId xmlns:a16="http://schemas.microsoft.com/office/drawing/2014/main" id="{FC12E036-C3E7-08F1-DC85-25AFAD50A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975" y="33675"/>
            <a:ext cx="7549750" cy="6787018"/>
          </a:xfrm>
        </p:spPr>
      </p:pic>
    </p:spTree>
    <p:extLst>
      <p:ext uri="{BB962C8B-B14F-4D97-AF65-F5344CB8AC3E}">
        <p14:creationId xmlns:p14="http://schemas.microsoft.com/office/powerpoint/2010/main" val="377398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60AED-4FCA-99E1-6B5C-16FAA6DD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</a:t>
            </a: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6E4F1DB-9DB7-763A-9CA3-B73E6B73E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088" b="-3"/>
          <a:stretch/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6FD4839-4FE1-2420-BC7A-38B73650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39" r="7950" b="-3"/>
          <a:stretch/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12107-7A85-41A0-63EB-46B6BD6C37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C966B22-096A-4328-9952-22C8A13A07E5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4/23/2025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A445-410E-2051-6ED9-162D0807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398-140B-C3D2-7EAC-63A71099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930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549E-73C5-83F6-DD93-2F7DFC57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USRP B210?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EF6D-FD4E-06B0-BF2B-C13AB174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Dual-channel SDR (can support MIMO or separate TX/RX antennas).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Wide RF range: 70 MHz to 6 GHz → Good for ISM band (2.4 GHz in this case).</a:t>
            </a:r>
          </a:p>
          <a:p>
            <a:r>
              <a:rPr lang="en-US" dirty="0">
                <a:ea typeface="+mn-lt"/>
                <a:cs typeface="+mn-lt"/>
              </a:rPr>
              <a:t>Compatible with GNU Radio → Perfect for prototyping real-time systems.</a:t>
            </a:r>
          </a:p>
          <a:p>
            <a:r>
              <a:rPr lang="en-US" dirty="0">
                <a:ea typeface="+mn-lt"/>
                <a:cs typeface="+mn-lt"/>
              </a:rPr>
              <a:t>USB 3.0 interface → High-speed streaming for real-time processing.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0621-450B-A9AE-047E-9BC47ABB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BB4DD-EE7C-4338-9305-82F201C908D8}" type="datetime1"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217B-36CA-C4E4-4BB8-93934E1D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0B83-0D69-B0EB-BF52-FE42B5A7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99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91D-7189-292A-201C-B71D4CDA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Ideas 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B1695-8D38-0939-823B-C5480BF9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machine learning</a:t>
            </a:r>
            <a:r>
              <a:rPr lang="en-US" dirty="0">
                <a:ea typeface="+mn-lt"/>
                <a:cs typeface="+mn-lt"/>
              </a:rPr>
              <a:t> on the </a:t>
            </a:r>
            <a:r>
              <a:rPr lang="en-US" dirty="0">
                <a:latin typeface="Consolas"/>
              </a:rPr>
              <a:t>K.dat</a:t>
            </a:r>
            <a:r>
              <a:rPr lang="en-US" dirty="0">
                <a:ea typeface="+mn-lt"/>
                <a:cs typeface="+mn-lt"/>
              </a:rPr>
              <a:t> recordings for intelligent classification.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 </a:t>
            </a:r>
            <a:r>
              <a:rPr lang="en-US" b="1" dirty="0">
                <a:ea typeface="+mn-lt"/>
                <a:cs typeface="+mn-lt"/>
              </a:rPr>
              <a:t>SMS/email alert</a:t>
            </a:r>
            <a:r>
              <a:rPr lang="en-US" dirty="0">
                <a:ea typeface="+mn-lt"/>
                <a:cs typeface="+mn-lt"/>
              </a:rPr>
              <a:t> when intrusion is detected.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Integrate </a:t>
            </a:r>
            <a:r>
              <a:rPr lang="en-US" b="1" dirty="0">
                <a:ea typeface="+mn-lt"/>
                <a:cs typeface="+mn-lt"/>
              </a:rPr>
              <a:t>directional antennas</a:t>
            </a:r>
            <a:r>
              <a:rPr lang="en-US" dirty="0">
                <a:ea typeface="+mn-lt"/>
                <a:cs typeface="+mn-lt"/>
              </a:rPr>
              <a:t> to focus surveillance region.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0CF4-7924-FE0C-88D3-B7BB0793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CA45F-B82A-4BD5-B824-1083B3364DCA}" type="datetime1">
              <a:t>4/23/2025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7C46-EE4F-4501-7FF6-778B18776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36FAA-ED07-71AC-5328-69910FC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519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DC178-0953-CC02-946B-C7764AC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pic>
        <p:nvPicPr>
          <p:cNvPr id="10" name="Graphic 9" descr="Handshake">
            <a:extLst>
              <a:ext uri="{FF2B5EF4-FFF2-40B4-BE49-F238E27FC236}">
                <a16:creationId xmlns:a16="http://schemas.microsoft.com/office/drawing/2014/main" id="{4138B970-D8FD-78E3-262A-8A4F1AB53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2" name="Graphic 11" descr="Handshake">
            <a:extLst>
              <a:ext uri="{FF2B5EF4-FFF2-40B4-BE49-F238E27FC236}">
                <a16:creationId xmlns:a16="http://schemas.microsoft.com/office/drawing/2014/main" id="{97796243-4314-4BC7-92EB-3D2E14CE3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1404B-BC99-9293-A723-92319E22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3ABA1F-AED1-4BEC-87E8-B13F1BC3C0EB}" type="datetime1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4/23/2025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1059C-686A-5630-903F-3C7C37AD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3E7D2-8914-704A-2F5C-BCED7A15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z="12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63692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Multi-Receiver Real-time Physical Intrusion Detection “Burglar Alarm” with GNU Radio and USRP N310 </vt:lpstr>
      <vt:lpstr>SYSTEM OVERVIEW: BURGLAR ALARM USING USRP B210</vt:lpstr>
      <vt:lpstr>LOGIC BEHIND BURGLAR DETECTION</vt:lpstr>
      <vt:lpstr>TRANSMITTER SIDE (Signal Emission)</vt:lpstr>
      <vt:lpstr>PowerPoint Presentation</vt:lpstr>
      <vt:lpstr>RECEIVER SIDE (Detection )</vt:lpstr>
      <vt:lpstr>PowerPoint Presentation</vt:lpstr>
      <vt:lpstr>RECIEVER SIDE (ALARM)</vt:lpstr>
      <vt:lpstr>PowerPoint Presentation</vt:lpstr>
      <vt:lpstr>RESULTS </vt:lpstr>
      <vt:lpstr>WHY USRP B210?</vt:lpstr>
      <vt:lpstr>Extension Ideas !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2025-04-23T19:50:28Z</dcterms:created>
  <dcterms:modified xsi:type="dcterms:W3CDTF">2025-04-23T22:03:49Z</dcterms:modified>
</cp:coreProperties>
</file>